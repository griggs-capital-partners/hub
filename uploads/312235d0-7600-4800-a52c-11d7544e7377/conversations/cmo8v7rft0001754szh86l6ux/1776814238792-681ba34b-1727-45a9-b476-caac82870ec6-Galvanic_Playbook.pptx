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8"/>
  </p:notesMasterIdLst>
  <p:sldIdLst>
    <p:sldId id="337" r:id="rId5"/>
    <p:sldId id="346" r:id="rId6"/>
    <p:sldId id="33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A3EC"/>
    <a:srgbClr val="D22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91A3BC-3B37-4F0A-BCE5-E7041F1124E0}" v="16" dt="2026-03-06T15:16:34.4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8" d="100"/>
          <a:sy n="88" d="100"/>
        </p:scale>
        <p:origin x="16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02721-059B-4231-A230-2530735D372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6BCDD-01B2-429D-B368-6D101EA41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63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8C229-65CA-3925-8CC9-03FBF35F3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497721-CD5A-61C5-A700-644098F4C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67F4A3-432B-A3E6-441E-5DA62824F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533E1-1785-720E-0E33-2DE9E9D12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6BCDD-01B2-429D-B368-6D101EA412D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23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697AF-5708-E82C-BB45-716FFB833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6421D-DAC3-9BC7-3C07-BE9CF73B0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4BBA21-8866-CE22-20D8-5F0C5E848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9F235-C3EE-789E-EA0E-AEFE8266D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6BCDD-01B2-429D-B368-6D101EA412D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464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F09F2-EEE8-BEBC-35F8-126F0B466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0A1D9-C36A-A482-AE41-9A5170DDE3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6B5A9C-4FDA-7588-A43A-78917229E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08B2E-9597-F798-3577-3BF66580A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6BCDD-01B2-429D-B368-6D101EA412D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98536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5794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49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866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77786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54422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17807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387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134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83746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7660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50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CD894-17B5-EFCD-94A0-BA56C9385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4922-6576-FDC7-ED89-95A9ADAF6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09" y="92537"/>
            <a:ext cx="8409759" cy="637744"/>
          </a:xfrm>
        </p:spPr>
        <p:txBody>
          <a:bodyPr>
            <a:normAutofit fontScale="90000"/>
          </a:bodyPr>
          <a:lstStyle/>
          <a:p>
            <a:r>
              <a:rPr lang="en-US" sz="2200" b="1" dirty="0">
                <a:latin typeface="Times New Roman"/>
                <a:cs typeface="Calibri Light"/>
              </a:rPr>
              <a:t>Galvanic Playbook</a:t>
            </a:r>
            <a:br>
              <a:rPr lang="en-US" sz="2200" b="1" dirty="0">
                <a:latin typeface="Times New Roman"/>
                <a:cs typeface="Calibri Light"/>
              </a:rPr>
            </a:br>
            <a:r>
              <a:rPr lang="en-US" sz="1800" b="1" i="1" dirty="0">
                <a:latin typeface="Times New Roman"/>
                <a:cs typeface="Calibri Light"/>
              </a:rPr>
              <a:t>Strategic Framing</a:t>
            </a:r>
            <a:endParaRPr lang="en-US" sz="1800" i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71C03-092B-EDA4-1612-A50C8DFE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81950" y="6463928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dirty="0"/>
              <a:t>1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F7A6885-B084-DE68-DAD1-76E9D142509C}"/>
              </a:ext>
            </a:extLst>
          </p:cNvPr>
          <p:cNvCxnSpPr>
            <a:cxnSpLocks/>
          </p:cNvCxnSpPr>
          <p:nvPr/>
        </p:nvCxnSpPr>
        <p:spPr>
          <a:xfrm>
            <a:off x="0" y="786391"/>
            <a:ext cx="10594711" cy="0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E61737-ED30-82D9-8A2F-F9CFDA86BB5D}"/>
              </a:ext>
            </a:extLst>
          </p:cNvPr>
          <p:cNvCxnSpPr>
            <a:cxnSpLocks/>
          </p:cNvCxnSpPr>
          <p:nvPr/>
        </p:nvCxnSpPr>
        <p:spPr>
          <a:xfrm flipV="1">
            <a:off x="48274" y="6463928"/>
            <a:ext cx="12142248" cy="56110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717EFEE-E3B7-F4A6-9C1E-8A5F7EFEC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4711" y="10049"/>
            <a:ext cx="1597290" cy="12436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63FB4FF-546E-CE90-375C-FA7F127F45EF}"/>
              </a:ext>
            </a:extLst>
          </p:cNvPr>
          <p:cNvSpPr txBox="1"/>
          <p:nvPr/>
        </p:nvSpPr>
        <p:spPr>
          <a:xfrm>
            <a:off x="7527472" y="1506623"/>
            <a:ext cx="4415517" cy="22775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Key Data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100,00+ net acres exited to Exxon in AR for $100M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70,000 net acres currently under lease in east TX, momentum toward 100,000+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Lease locations in Hopkins / Rain counties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Planning 1,200+ acres between wells (not geothermal focused)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Heavy geology/land company, light on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Mentioned 4 appraisal wells, unclear if complete, contracted or just planned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560A47-841D-A402-A8C5-82DA2089F83A}"/>
              </a:ext>
            </a:extLst>
          </p:cNvPr>
          <p:cNvSpPr txBox="1"/>
          <p:nvPr/>
        </p:nvSpPr>
        <p:spPr>
          <a:xfrm>
            <a:off x="370115" y="1463080"/>
            <a:ext cx="6672942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Strategic Narratives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Positioned as “Galvanic 2.0” – Plan to monetize through revenue not land flipping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Mission focused on “building the industry” – Develop the Smackover vs. develop individual acreage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Built position with world class land team, over 200k+ acres total, exited more than half to Exxon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Ready to unitize acreage to preserve lease terms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Land is geographically separated from T5’s area of interest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At inflection point: need to either grow or partner, recognize company gaps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Currently evaluating downstream partners / facilities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2B7CE9-DEAE-19B4-428E-4019AC9D90CF}"/>
              </a:ext>
            </a:extLst>
          </p:cNvPr>
          <p:cNvSpPr txBox="1"/>
          <p:nvPr/>
        </p:nvSpPr>
        <p:spPr>
          <a:xfrm>
            <a:off x="7496269" y="4037052"/>
            <a:ext cx="46358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Sound bites</a:t>
            </a:r>
          </a:p>
          <a:p>
            <a:r>
              <a:rPr lang="en-US" sz="1600" dirty="0"/>
              <a:t>“Industry long on promises, low on production”</a:t>
            </a:r>
          </a:p>
          <a:p>
            <a:r>
              <a:rPr lang="en-US" sz="1600" dirty="0"/>
              <a:t>“We are T5’s biggest cheerleaders”</a:t>
            </a:r>
          </a:p>
          <a:p>
            <a:r>
              <a:rPr lang="en-US" sz="1600" dirty="0"/>
              <a:t>“Better before bigger”</a:t>
            </a:r>
          </a:p>
          <a:p>
            <a:r>
              <a:rPr lang="en-US" sz="1600" dirty="0"/>
              <a:t>“Faster innovation and implementation of learnings”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97204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79463-B7C9-58C5-7C62-EAC687A0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4877F-7580-790B-FB7E-465177A94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09" y="92537"/>
            <a:ext cx="8409759" cy="637744"/>
          </a:xfrm>
        </p:spPr>
        <p:txBody>
          <a:bodyPr>
            <a:normAutofit fontScale="90000"/>
          </a:bodyPr>
          <a:lstStyle/>
          <a:p>
            <a:r>
              <a:rPr lang="en-US" sz="2200" b="1" dirty="0">
                <a:latin typeface="Times New Roman"/>
                <a:cs typeface="Calibri Light"/>
              </a:rPr>
              <a:t>Galvanic Playbook</a:t>
            </a:r>
            <a:br>
              <a:rPr lang="en-US" sz="2200" b="1" dirty="0">
                <a:latin typeface="Times New Roman"/>
                <a:cs typeface="Calibri Light"/>
              </a:rPr>
            </a:br>
            <a:r>
              <a:rPr lang="en-US" sz="1800" b="1" i="1" dirty="0" err="1">
                <a:latin typeface="Times New Roman"/>
                <a:cs typeface="Calibri Light"/>
              </a:rPr>
              <a:t>Playbook</a:t>
            </a:r>
            <a:endParaRPr lang="en-US" sz="1800" i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0B7DD-C4E4-1F7A-CC46-6CA8D677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81950" y="6463928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dirty="0"/>
              <a:t>2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85E866A-5A54-D886-300C-FF2E7480A470}"/>
              </a:ext>
            </a:extLst>
          </p:cNvPr>
          <p:cNvCxnSpPr>
            <a:cxnSpLocks/>
          </p:cNvCxnSpPr>
          <p:nvPr/>
        </p:nvCxnSpPr>
        <p:spPr>
          <a:xfrm>
            <a:off x="0" y="786391"/>
            <a:ext cx="10594711" cy="0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A846AE3-4091-FB3A-54BE-D65F4B5078E5}"/>
              </a:ext>
            </a:extLst>
          </p:cNvPr>
          <p:cNvCxnSpPr>
            <a:cxnSpLocks/>
          </p:cNvCxnSpPr>
          <p:nvPr/>
        </p:nvCxnSpPr>
        <p:spPr>
          <a:xfrm flipV="1">
            <a:off x="48274" y="6463928"/>
            <a:ext cx="12142248" cy="56110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8F073F4E-A07F-DDBF-74AA-EB6CBC7BF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4711" y="10049"/>
            <a:ext cx="1597290" cy="124369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A0E478B-8A18-0BFE-4A8B-58E21399B8A9}"/>
              </a:ext>
            </a:extLst>
          </p:cNvPr>
          <p:cNvSpPr txBox="1"/>
          <p:nvPr/>
        </p:nvSpPr>
        <p:spPr>
          <a:xfrm>
            <a:off x="370115" y="1463080"/>
            <a:ext cx="1129392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don’t need to solve for the final arrangement on day 1, there are multiple value add initial steps for both parties.</a:t>
            </a:r>
          </a:p>
          <a:p>
            <a:endParaRPr lang="en-US" dirty="0"/>
          </a:p>
          <a:p>
            <a:r>
              <a:rPr lang="en-US" dirty="0"/>
              <a:t>Focus on low complexity, high reward + optionality</a:t>
            </a:r>
          </a:p>
          <a:p>
            <a:endParaRPr lang="en-US" dirty="0"/>
          </a:p>
          <a:p>
            <a:r>
              <a:rPr lang="en-US" dirty="0"/>
              <a:t>Large discrepancy in land positions means keeping valuations off the table, initially</a:t>
            </a:r>
          </a:p>
          <a:p>
            <a:endParaRPr lang="en-US" dirty="0"/>
          </a:p>
          <a:p>
            <a:r>
              <a:rPr lang="en-US" dirty="0"/>
              <a:t>Focus on co-op with menu of options and build towards partnership / WI / JV if desired</a:t>
            </a:r>
          </a:p>
          <a:p>
            <a:endParaRPr lang="en-US" dirty="0"/>
          </a:p>
          <a:p>
            <a:r>
              <a:rPr lang="en-US" b="1" dirty="0"/>
              <a:t>Two companies that are helping shape the industry and work together where combined efforts make more sense other but maintain entity separation</a:t>
            </a:r>
          </a:p>
          <a:p>
            <a:endParaRPr lang="en-US" dirty="0"/>
          </a:p>
          <a:p>
            <a:r>
              <a:rPr lang="en-US" dirty="0"/>
              <a:t>Where every other player is focused solely on individual acreage, this becomes a path to competitive advantages</a:t>
            </a:r>
          </a:p>
          <a:p>
            <a:endParaRPr lang="en-US" dirty="0"/>
          </a:p>
          <a:p>
            <a:r>
              <a:rPr lang="en-US" dirty="0"/>
              <a:t>Focus on filling gaps and enhancing T5’s strategic objectives: speed, data, optionality, low cost</a:t>
            </a:r>
          </a:p>
        </p:txBody>
      </p:sp>
    </p:spTree>
    <p:extLst>
      <p:ext uri="{BB962C8B-B14F-4D97-AF65-F5344CB8AC3E}">
        <p14:creationId xmlns:p14="http://schemas.microsoft.com/office/powerpoint/2010/main" val="1631556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616DE-89EC-92D9-BB6E-5AEB93E61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A16AC-C76D-7ED5-D475-D7809E09F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09" y="92537"/>
            <a:ext cx="8409759" cy="637744"/>
          </a:xfrm>
        </p:spPr>
        <p:txBody>
          <a:bodyPr>
            <a:normAutofit fontScale="90000"/>
          </a:bodyPr>
          <a:lstStyle/>
          <a:p>
            <a:r>
              <a:rPr lang="en-US" sz="2200" b="1" dirty="0">
                <a:latin typeface="Times New Roman"/>
                <a:cs typeface="Calibri Light"/>
              </a:rPr>
              <a:t>Galvanic Playbook</a:t>
            </a:r>
            <a:br>
              <a:rPr lang="en-US" sz="2200" b="1" dirty="0">
                <a:latin typeface="Times New Roman"/>
                <a:cs typeface="Calibri Light"/>
              </a:rPr>
            </a:br>
            <a:r>
              <a:rPr lang="en-US" sz="1800" b="1" i="1" dirty="0">
                <a:latin typeface="Times New Roman"/>
                <a:cs typeface="Calibri Light"/>
              </a:rPr>
              <a:t>Menu of options</a:t>
            </a:r>
            <a:endParaRPr lang="en-US" sz="1800" i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F805C-A3DB-59BE-BB16-5E5C3B26D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81950" y="6463928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dirty="0"/>
              <a:t>3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276F239-A511-250F-384C-A9D3B5AC85B7}"/>
              </a:ext>
            </a:extLst>
          </p:cNvPr>
          <p:cNvCxnSpPr>
            <a:cxnSpLocks/>
          </p:cNvCxnSpPr>
          <p:nvPr/>
        </p:nvCxnSpPr>
        <p:spPr>
          <a:xfrm>
            <a:off x="0" y="786391"/>
            <a:ext cx="10594711" cy="0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553FCB5-0A4D-7CCA-D7C5-C06F79DA298C}"/>
              </a:ext>
            </a:extLst>
          </p:cNvPr>
          <p:cNvCxnSpPr>
            <a:cxnSpLocks/>
          </p:cNvCxnSpPr>
          <p:nvPr/>
        </p:nvCxnSpPr>
        <p:spPr>
          <a:xfrm flipV="1">
            <a:off x="48274" y="6463928"/>
            <a:ext cx="12142248" cy="56110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4B72A49-1BF8-C01A-B4AA-696F1A075994}"/>
              </a:ext>
            </a:extLst>
          </p:cNvPr>
          <p:cNvCxnSpPr/>
          <p:nvPr/>
        </p:nvCxnSpPr>
        <p:spPr>
          <a:xfrm>
            <a:off x="6905177" y="4598947"/>
            <a:ext cx="438993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32C3B44-DF92-6A1B-BAC9-21A9D13647CB}"/>
              </a:ext>
            </a:extLst>
          </p:cNvPr>
          <p:cNvSpPr txBox="1"/>
          <p:nvPr/>
        </p:nvSpPr>
        <p:spPr>
          <a:xfrm>
            <a:off x="7553305" y="4392236"/>
            <a:ext cx="969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100 BO/Mo.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3E7BF4-26BD-487D-A5A8-48DE48BA1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4711" y="10049"/>
            <a:ext cx="1597290" cy="124369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9FCA380-5B29-6196-0349-6171C6418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725614"/>
              </p:ext>
            </p:extLst>
          </p:nvPr>
        </p:nvGraphicFramePr>
        <p:xfrm>
          <a:off x="283600" y="842502"/>
          <a:ext cx="11537714" cy="5509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241">
                  <a:extLst>
                    <a:ext uri="{9D8B030D-6E8A-4147-A177-3AD203B41FA5}">
                      <a16:colId xmlns:a16="http://schemas.microsoft.com/office/drawing/2014/main" val="2881861788"/>
                    </a:ext>
                  </a:extLst>
                </a:gridCol>
                <a:gridCol w="2302728">
                  <a:extLst>
                    <a:ext uri="{9D8B030D-6E8A-4147-A177-3AD203B41FA5}">
                      <a16:colId xmlns:a16="http://schemas.microsoft.com/office/drawing/2014/main" val="3009642514"/>
                    </a:ext>
                  </a:extLst>
                </a:gridCol>
                <a:gridCol w="2363788">
                  <a:extLst>
                    <a:ext uri="{9D8B030D-6E8A-4147-A177-3AD203B41FA5}">
                      <a16:colId xmlns:a16="http://schemas.microsoft.com/office/drawing/2014/main" val="2346950984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624296275"/>
                    </a:ext>
                  </a:extLst>
                </a:gridCol>
                <a:gridCol w="3482857">
                  <a:extLst>
                    <a:ext uri="{9D8B030D-6E8A-4147-A177-3AD203B41FA5}">
                      <a16:colId xmlns:a16="http://schemas.microsoft.com/office/drawing/2014/main" val="3263300053"/>
                    </a:ext>
                  </a:extLst>
                </a:gridCol>
              </a:tblGrid>
              <a:tr h="327961">
                <a:tc>
                  <a:txBody>
                    <a:bodyPr/>
                    <a:lstStyle/>
                    <a:p>
                      <a:r>
                        <a:rPr lang="en-US" sz="1200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T5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Galvanic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Considerations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903610"/>
                  </a:ext>
                </a:extLst>
              </a:tr>
              <a:tr h="67165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Land team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T5 leverages land team to scale position for a fee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Immediate access to proven team built for scale, shared lease knowledge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Keeps team busy and dedicated within the region, shared lease knowledge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Define areas of interest for each entity to remove any conflict of shared resources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030091"/>
                  </a:ext>
                </a:extLst>
              </a:tr>
              <a:tr h="671656">
                <a:tc>
                  <a:txBody>
                    <a:bodyPr/>
                    <a:lstStyle/>
                    <a:p>
                      <a:r>
                        <a:rPr lang="en-US" sz="1200" dirty="0"/>
                        <a:t>Land 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Agree to land swaps, friendly unitization where overlapping, that benefits both parties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Access to land map, known entity in area to better inform acquisition 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Access to land map, known entity in area to better inform acquisition 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Create duopoly that squeezes competitors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6039127"/>
                  </a:ext>
                </a:extLst>
              </a:tr>
              <a:tr h="671656">
                <a:tc>
                  <a:txBody>
                    <a:bodyPr/>
                    <a:lstStyle/>
                    <a:p>
                      <a:r>
                        <a:rPr lang="en-US" sz="1200" dirty="0"/>
                        <a:t>Technical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Galvanic leverages </a:t>
                      </a:r>
                      <a:r>
                        <a:rPr lang="en-US" sz="1200" dirty="0" err="1"/>
                        <a:t>Incendium</a:t>
                      </a:r>
                      <a:r>
                        <a:rPr lang="en-US" sz="1200" dirty="0"/>
                        <a:t> for drilling, downstream development, ops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Rapidly compound execution learnings, lower unit costs, downstream synergies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Fills missing company gap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Lots of options to explore across these items. Value creation can run from mutual beneficial outcomes, to fee based to equity comp.</a:t>
                      </a:r>
                    </a:p>
                    <a:p>
                      <a:pPr algn="l"/>
                      <a:endParaRPr lang="en-US" sz="1200" dirty="0"/>
                    </a:p>
                    <a:p>
                      <a:pPr algn="l"/>
                      <a:r>
                        <a:rPr lang="en-US" sz="1200" dirty="0"/>
                        <a:t>Ie: We could run point on DOE loan in exchange for equity in Galvanic. They benefit from lower cost of overall capital and we are compensated for the expertise</a:t>
                      </a:r>
                    </a:p>
                    <a:p>
                      <a:pPr algn="l"/>
                      <a:endParaRPr lang="en-US" sz="1200" dirty="0"/>
                    </a:p>
                    <a:p>
                      <a:pPr algn="l"/>
                      <a:r>
                        <a:rPr lang="en-US" sz="1200" dirty="0"/>
                        <a:t>… plenty of brainstorming to do here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725220"/>
                  </a:ext>
                </a:extLst>
              </a:tr>
              <a:tr h="863558">
                <a:tc>
                  <a:txBody>
                    <a:bodyPr/>
                    <a:lstStyle/>
                    <a:p>
                      <a:r>
                        <a:rPr lang="en-US" sz="1200" dirty="0"/>
                        <a:t>DOE efforts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Position DOE funding ask as “regional development”, combine projects to increase materiality and stand out against other </a:t>
                      </a:r>
                      <a:r>
                        <a:rPr lang="en-US" sz="1200" dirty="0" err="1"/>
                        <a:t>oppty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Meet DOE threshold requirements without stretching vision or acreage needed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Access to DOE expertise and potential funding path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455779"/>
                  </a:ext>
                </a:extLst>
              </a:tr>
              <a:tr h="671656">
                <a:tc>
                  <a:txBody>
                    <a:bodyPr/>
                    <a:lstStyle/>
                    <a:p>
                      <a:r>
                        <a:rPr lang="en-US" sz="1200" dirty="0"/>
                        <a:t>DLE / Carbonation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Evaluate infrastructure synergies, </a:t>
                      </a:r>
                      <a:r>
                        <a:rPr lang="en-US" sz="1200" dirty="0" err="1"/>
                        <a:t>ie</a:t>
                      </a:r>
                      <a:r>
                        <a:rPr lang="en-US" sz="1200" dirty="0"/>
                        <a:t>: regional carbonation facility.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Lowers total capital intensity and improves operating efficiency, or create toll road for others in 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Lowers total capital intensity and improves operating efficiency</a:t>
                      </a:r>
                    </a:p>
                    <a:p>
                      <a:pPr algn="l"/>
                      <a:endParaRPr 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4467080"/>
                  </a:ext>
                </a:extLst>
              </a:tr>
              <a:tr h="47975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/>
                        <a:t>Data share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Open exchange on subsurface / technical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Improved modeling, development plan efforts, well design, etc.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Improved modeling, development plan efforts, well design, etc.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Define areas of interest for each entity to remove any conflict of proprietary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97457"/>
                  </a:ext>
                </a:extLst>
              </a:tr>
              <a:tr h="67165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/>
                        <a:t>Combined offtake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Negotiate triparty offtake agreements for T5 + galvanic volumes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Materiality will drive better pricing and negotiations while also putting pressure on other players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Materiality will drive better pricing and negotiations while also putting pressure on other players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3961465"/>
                  </a:ext>
                </a:extLst>
              </a:tr>
              <a:tr h="479755">
                <a:tc>
                  <a:txBody>
                    <a:bodyPr/>
                    <a:lstStyle/>
                    <a:p>
                      <a:r>
                        <a:rPr lang="en-US" sz="1200" dirty="0"/>
                        <a:t>Geo experts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Assist galvanic in geothermal production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Bring development expertise, sell onsite geo to galvanic 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Improved spacing, permitting, credits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1056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2808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08C3EC74DB07449B441C6E918DBBFE" ma:contentTypeVersion="15" ma:contentTypeDescription="Create a new document." ma:contentTypeScope="" ma:versionID="7beef11d226f1ae261e2a125011724d7">
  <xsd:schema xmlns:xsd="http://www.w3.org/2001/XMLSchema" xmlns:xs="http://www.w3.org/2001/XMLSchema" xmlns:p="http://schemas.microsoft.com/office/2006/metadata/properties" xmlns:ns2="a6408cb1-f383-43d9-bc9c-766bed4241a3" xmlns:ns3="462d0c2c-bdc6-4e50-abe2-d77906d21cba" targetNamespace="http://schemas.microsoft.com/office/2006/metadata/properties" ma:root="true" ma:fieldsID="c1db797195c75154be28841cf4bf33d5" ns2:_="" ns3:_="">
    <xsd:import namespace="a6408cb1-f383-43d9-bc9c-766bed4241a3"/>
    <xsd:import namespace="462d0c2c-bdc6-4e50-abe2-d77906d21c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408cb1-f383-43d9-bc9c-766bed4241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c6f28194-f658-4104-b998-15f20e6c08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2d0c2c-bdc6-4e50-abe2-d77906d21cb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fd1478dc-cc73-4e30-8c9f-6972075192ba}" ma:internalName="TaxCatchAll" ma:showField="CatchAllData" ma:web="462d0c2c-bdc6-4e50-abe2-d77906d21c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462d0c2c-bdc6-4e50-abe2-d77906d21cba">
      <UserInfo>
        <DisplayName>Tim Mullen</DisplayName>
        <AccountId>12</AccountId>
        <AccountType/>
      </UserInfo>
      <UserInfo>
        <DisplayName>JD Mason</DisplayName>
        <AccountId>7</AccountId>
        <AccountType/>
      </UserInfo>
    </SharedWithUsers>
    <lcf76f155ced4ddcb4097134ff3c332f xmlns="a6408cb1-f383-43d9-bc9c-766bed4241a3">
      <Terms xmlns="http://schemas.microsoft.com/office/infopath/2007/PartnerControls"/>
    </lcf76f155ced4ddcb4097134ff3c332f>
    <TaxCatchAll xmlns="462d0c2c-bdc6-4e50-abe2-d77906d21cba" xsi:nil="true"/>
  </documentManagement>
</p:properties>
</file>

<file path=customXml/itemProps1.xml><?xml version="1.0" encoding="utf-8"?>
<ds:datastoreItem xmlns:ds="http://schemas.openxmlformats.org/officeDocument/2006/customXml" ds:itemID="{E0863D92-F4C0-43FE-992D-6FF46B7C0B84}">
  <ds:schemaRefs>
    <ds:schemaRef ds:uri="462d0c2c-bdc6-4e50-abe2-d77906d21cba"/>
    <ds:schemaRef ds:uri="a6408cb1-f383-43d9-bc9c-766bed4241a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CAEF6FC-3D5A-4175-BA37-5B00266B171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DA7885-5FAA-4F24-AB1E-AE8C09D42829}">
  <ds:schemaRefs>
    <ds:schemaRef ds:uri="http://purl.org/dc/dcmitype/"/>
    <ds:schemaRef ds:uri="462d0c2c-bdc6-4e50-abe2-d77906d21cba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a6408cb1-f383-43d9-bc9c-766bed4241a3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09613b6-48c5-4f90-924e-71c8abd01981}" enabled="0" method="" siteId="{d09613b6-48c5-4f90-924e-71c8abd0198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1921</TotalTime>
  <Words>723</Words>
  <Application>Microsoft Office PowerPoint</Application>
  <PresentationFormat>Widescreen</PresentationFormat>
  <Paragraphs>88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2013 - 2022 Theme</vt:lpstr>
      <vt:lpstr>Galvanic Playbook Strategic Framing</vt:lpstr>
      <vt:lpstr>Galvanic Playbook Playbook</vt:lpstr>
      <vt:lpstr>Galvanic Playbook Menu of options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 Mullen</dc:creator>
  <cp:lastModifiedBy>Alex  Griggs</cp:lastModifiedBy>
  <cp:revision>4</cp:revision>
  <dcterms:created xsi:type="dcterms:W3CDTF">2023-12-05T14:45:49Z</dcterms:created>
  <dcterms:modified xsi:type="dcterms:W3CDTF">2026-03-06T15:22:56Z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0x0101009708C3EC74DB07449B441C6E918DBBFE</vt:lpwstr>
  </property>
  <property fmtid="{D5CDD505-2E9C-101B-9397-08002B2CF9AE}" pid="3" name="MediaServiceImageTags">
    <vt:lpwstr/>
  </property>
</Properties>
</file>